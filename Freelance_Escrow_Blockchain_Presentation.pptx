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90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30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6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4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9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4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11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06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64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84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85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048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65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2CE7360-C1F0-4086-A2F2-CDAD82148FA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A2B13A-0A57-4798-B635-0833ADE19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900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93CB-5C48-505B-1403-6360CDFC1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Blockchain-Based Freelance Escrow System</a:t>
            </a:r>
          </a:p>
        </p:txBody>
      </p:sp>
    </p:spTree>
    <p:extLst>
      <p:ext uri="{BB962C8B-B14F-4D97-AF65-F5344CB8AC3E}">
        <p14:creationId xmlns:p14="http://schemas.microsoft.com/office/powerpoint/2010/main" val="43994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AAA0-F95D-3D10-14EB-F67765D5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ACTORS</a:t>
            </a:r>
          </a:p>
        </p:txBody>
      </p:sp>
      <p:pic>
        <p:nvPicPr>
          <p:cNvPr id="25" name="Graphic 24" descr="User">
            <a:extLst>
              <a:ext uri="{FF2B5EF4-FFF2-40B4-BE49-F238E27FC236}">
                <a16:creationId xmlns:a16="http://schemas.microsoft.com/office/drawing/2014/main" id="{CBA1FB75-8057-DD69-CD1A-97B457DC5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989" y="2004248"/>
            <a:ext cx="914400" cy="914400"/>
          </a:xfrm>
          <a:prstGeom prst="rect">
            <a:avLst/>
          </a:prstGeom>
        </p:spPr>
      </p:pic>
      <p:pic>
        <p:nvPicPr>
          <p:cNvPr id="26" name="Graphic 25" descr="User">
            <a:extLst>
              <a:ext uri="{FF2B5EF4-FFF2-40B4-BE49-F238E27FC236}">
                <a16:creationId xmlns:a16="http://schemas.microsoft.com/office/drawing/2014/main" id="{CB3BF169-8341-C6AA-876F-CD27950D2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574" y="3163944"/>
            <a:ext cx="914400" cy="914400"/>
          </a:xfrm>
          <a:prstGeom prst="rect">
            <a:avLst/>
          </a:prstGeom>
        </p:spPr>
      </p:pic>
      <p:pic>
        <p:nvPicPr>
          <p:cNvPr id="28" name="Graphic 27" descr="Document">
            <a:extLst>
              <a:ext uri="{FF2B5EF4-FFF2-40B4-BE49-F238E27FC236}">
                <a16:creationId xmlns:a16="http://schemas.microsoft.com/office/drawing/2014/main" id="{6D973EDF-DC9D-BE54-34FE-11E441F3D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574" y="4462631"/>
            <a:ext cx="914400" cy="914400"/>
          </a:xfrm>
          <a:prstGeom prst="rect">
            <a:avLst/>
          </a:prstGeom>
        </p:spPr>
      </p:pic>
      <p:pic>
        <p:nvPicPr>
          <p:cNvPr id="30" name="Graphic 29" descr="Circular flowchart">
            <a:extLst>
              <a:ext uri="{FF2B5EF4-FFF2-40B4-BE49-F238E27FC236}">
                <a16:creationId xmlns:a16="http://schemas.microsoft.com/office/drawing/2014/main" id="{37EC8519-1578-CD57-987B-DFA3B40ADE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574" y="5761318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74A722D-2B6E-4901-785D-49114B2C8F24}"/>
              </a:ext>
            </a:extLst>
          </p:cNvPr>
          <p:cNvSpPr txBox="1"/>
          <p:nvPr/>
        </p:nvSpPr>
        <p:spPr>
          <a:xfrm>
            <a:off x="1687397" y="1901074"/>
            <a:ext cx="66443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CLIENT</a:t>
            </a:r>
          </a:p>
          <a:p>
            <a:pPr algn="just"/>
            <a:r>
              <a:rPr lang="en-US" dirty="0"/>
              <a:t>  (Employer)</a:t>
            </a:r>
          </a:p>
          <a:p>
            <a:pPr algn="just"/>
            <a:r>
              <a:rPr lang="en-US" dirty="0"/>
              <a:t>     creates contract , deposits funds and confirms delivery of the work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B7A75D-D0D9-1ACA-A739-068E10BDDE16}"/>
              </a:ext>
            </a:extLst>
          </p:cNvPr>
          <p:cNvSpPr txBox="1"/>
          <p:nvPr/>
        </p:nvSpPr>
        <p:spPr>
          <a:xfrm>
            <a:off x="1831974" y="3249258"/>
            <a:ext cx="73213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FREELANCER </a:t>
            </a:r>
          </a:p>
          <a:p>
            <a:pPr algn="just"/>
            <a:r>
              <a:rPr lang="en-US" dirty="0"/>
              <a:t>  (Service Provider )</a:t>
            </a:r>
          </a:p>
          <a:p>
            <a:pPr algn="just"/>
            <a:r>
              <a:rPr lang="en-US" dirty="0"/>
              <a:t>    Accepts contract  submits work and receivers payment after confirmation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78D474-BB5A-18F5-A214-A9335AB616AB}"/>
              </a:ext>
            </a:extLst>
          </p:cNvPr>
          <p:cNvSpPr txBox="1"/>
          <p:nvPr/>
        </p:nvSpPr>
        <p:spPr>
          <a:xfrm>
            <a:off x="1779204" y="4381554"/>
            <a:ext cx="737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SMART CONTRACT</a:t>
            </a:r>
          </a:p>
          <a:p>
            <a:pPr algn="just"/>
            <a:r>
              <a:rPr lang="en-US" dirty="0"/>
              <a:t>   (Escrow)</a:t>
            </a:r>
          </a:p>
          <a:p>
            <a:pPr algn="just"/>
            <a:r>
              <a:rPr lang="en-US" dirty="0"/>
              <a:t>    Holds the funds securely, enforces the rules and releases payment when </a:t>
            </a:r>
          </a:p>
          <a:p>
            <a:pPr algn="just"/>
            <a:r>
              <a:rPr lang="en-US" dirty="0"/>
              <a:t>     condition are met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1B5B42-53E6-BF04-3F20-3B0E23949438}"/>
              </a:ext>
            </a:extLst>
          </p:cNvPr>
          <p:cNvSpPr txBox="1"/>
          <p:nvPr/>
        </p:nvSpPr>
        <p:spPr>
          <a:xfrm>
            <a:off x="1831974" y="5786735"/>
            <a:ext cx="63759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BLOCKCHAIN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  (Polygon Network )</a:t>
            </a:r>
          </a:p>
          <a:p>
            <a:pPr algn="just"/>
            <a:r>
              <a:rPr lang="en-US" dirty="0"/>
              <a:t>    Stores all transactions ,ensures transparency and immutability</a:t>
            </a:r>
          </a:p>
        </p:txBody>
      </p:sp>
    </p:spTree>
    <p:extLst>
      <p:ext uri="{BB962C8B-B14F-4D97-AF65-F5344CB8AC3E}">
        <p14:creationId xmlns:p14="http://schemas.microsoft.com/office/powerpoint/2010/main" val="287351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BAAE-6FA8-77EB-3E81-B497514ED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/>
              <a:t>SYSTEM ARCHITECTURE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17E888-39DB-F5F7-68F3-C565A5181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26BBBF-16FD-C398-9CD6-BDC282EA239D}"/>
              </a:ext>
            </a:extLst>
          </p:cNvPr>
          <p:cNvSpPr/>
          <p:nvPr/>
        </p:nvSpPr>
        <p:spPr>
          <a:xfrm>
            <a:off x="838200" y="1825625"/>
            <a:ext cx="2291499" cy="1869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(Frontend)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5B2D5-1C46-6EDE-19EA-682271B835C3}"/>
              </a:ext>
            </a:extLst>
          </p:cNvPr>
          <p:cNvSpPr/>
          <p:nvPr/>
        </p:nvSpPr>
        <p:spPr>
          <a:xfrm>
            <a:off x="3676454" y="1825625"/>
            <a:ext cx="2193303" cy="1869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METAMASK</a:t>
            </a:r>
          </a:p>
          <a:p>
            <a:pPr algn="ctr"/>
            <a:r>
              <a:rPr lang="en-US" dirty="0"/>
              <a:t>(Wallet 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27ABD4-5765-93F9-B84E-798DE7E643A4}"/>
              </a:ext>
            </a:extLst>
          </p:cNvPr>
          <p:cNvSpPr/>
          <p:nvPr/>
        </p:nvSpPr>
        <p:spPr>
          <a:xfrm>
            <a:off x="6372520" y="1825625"/>
            <a:ext cx="2193303" cy="1869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SMART CONTRACT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Escrow.sol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AD8F16-B558-E570-B247-BCE9AD427CDF}"/>
              </a:ext>
            </a:extLst>
          </p:cNvPr>
          <p:cNvSpPr/>
          <p:nvPr/>
        </p:nvSpPr>
        <p:spPr>
          <a:xfrm>
            <a:off x="9101744" y="1825625"/>
            <a:ext cx="2193303" cy="1869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BLOCKCHAIN</a:t>
            </a:r>
          </a:p>
          <a:p>
            <a:pPr algn="ctr"/>
            <a:r>
              <a:rPr lang="en-US" dirty="0"/>
              <a:t>(Polygon)</a:t>
            </a:r>
          </a:p>
        </p:txBody>
      </p:sp>
      <p:pic>
        <p:nvPicPr>
          <p:cNvPr id="13" name="Content Placeholder 11" descr="Internet">
            <a:extLst>
              <a:ext uri="{FF2B5EF4-FFF2-40B4-BE49-F238E27FC236}">
                <a16:creationId xmlns:a16="http://schemas.microsoft.com/office/drawing/2014/main" id="{42901BC1-8586-B6D2-BECF-502ADD57B2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6749" y="2514600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FFE95CD-A16D-D99F-2D7F-2780AAE1A5E1}"/>
              </a:ext>
            </a:extLst>
          </p:cNvPr>
          <p:cNvSpPr txBox="1"/>
          <p:nvPr/>
        </p:nvSpPr>
        <p:spPr>
          <a:xfrm>
            <a:off x="4223210" y="2606315"/>
            <a:ext cx="1115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🦊</a:t>
            </a:r>
          </a:p>
        </p:txBody>
      </p:sp>
      <p:pic>
        <p:nvPicPr>
          <p:cNvPr id="22" name="Graphic 21" descr="Document">
            <a:extLst>
              <a:ext uri="{FF2B5EF4-FFF2-40B4-BE49-F238E27FC236}">
                <a16:creationId xmlns:a16="http://schemas.microsoft.com/office/drawing/2014/main" id="{3B6B9A11-3153-6636-FF5C-5A796A99AB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1971" y="2556301"/>
            <a:ext cx="914400" cy="914400"/>
          </a:xfrm>
          <a:prstGeom prst="rect">
            <a:avLst/>
          </a:prstGeom>
        </p:spPr>
      </p:pic>
      <p:pic>
        <p:nvPicPr>
          <p:cNvPr id="24" name="Graphic 23" descr="Circular flowchart">
            <a:extLst>
              <a:ext uri="{FF2B5EF4-FFF2-40B4-BE49-F238E27FC236}">
                <a16:creationId xmlns:a16="http://schemas.microsoft.com/office/drawing/2014/main" id="{3C7D38E7-9840-1ECE-24DF-787585C9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9901" y="2514600"/>
            <a:ext cx="914400" cy="9144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A96CBF-23BA-F7E6-9AA5-7E94A9A77CB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129699" y="2760466"/>
            <a:ext cx="546755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FD56A2-772F-B181-485D-20B23338732C}"/>
              </a:ext>
            </a:extLst>
          </p:cNvPr>
          <p:cNvCxnSpPr>
            <a:cxnSpLocks/>
          </p:cNvCxnSpPr>
          <p:nvPr/>
        </p:nvCxnSpPr>
        <p:spPr>
          <a:xfrm>
            <a:off x="5874454" y="2826556"/>
            <a:ext cx="49806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0578F29-1B79-A524-F11E-7C59E23E817E}"/>
              </a:ext>
            </a:extLst>
          </p:cNvPr>
          <p:cNvCxnSpPr>
            <a:cxnSpLocks/>
          </p:cNvCxnSpPr>
          <p:nvPr/>
        </p:nvCxnSpPr>
        <p:spPr>
          <a:xfrm>
            <a:off x="8603678" y="2848952"/>
            <a:ext cx="498066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39AF64D-2713-12FC-E379-9A133FB17EA3}"/>
              </a:ext>
            </a:extLst>
          </p:cNvPr>
          <p:cNvSpPr txBox="1"/>
          <p:nvPr/>
        </p:nvSpPr>
        <p:spPr>
          <a:xfrm>
            <a:off x="2804920" y="3953301"/>
            <a:ext cx="1159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Interact via </a:t>
            </a:r>
          </a:p>
          <a:p>
            <a:r>
              <a:rPr lang="en-US" sz="1200" dirty="0">
                <a:solidFill>
                  <a:srgbClr val="00B0F0"/>
                </a:solidFill>
              </a:rPr>
              <a:t>Web interface</a:t>
            </a:r>
            <a:r>
              <a:rPr lang="en-US" sz="1200" dirty="0"/>
              <a:t> 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4483A4A-DA71-F572-715D-D33AFD2BEBD2}"/>
              </a:ext>
            </a:extLst>
          </p:cNvPr>
          <p:cNvCxnSpPr>
            <a:cxnSpLocks/>
            <a:stCxn id="5" idx="2"/>
            <a:endCxn id="6" idx="2"/>
          </p:cNvCxnSpPr>
          <p:nvPr/>
        </p:nvCxnSpPr>
        <p:spPr>
          <a:xfrm rot="16200000" flipH="1">
            <a:off x="3378528" y="2300729"/>
            <a:ext cx="12700" cy="2789156"/>
          </a:xfrm>
          <a:prstGeom prst="bentConnector3">
            <a:avLst>
              <a:gd name="adj1" fmla="val 1800000"/>
            </a:avLst>
          </a:prstGeom>
          <a:ln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D3054B5-3FC7-7E3C-818E-61EA0B7876A5}"/>
              </a:ext>
            </a:extLst>
          </p:cNvPr>
          <p:cNvCxnSpPr>
            <a:cxnSpLocks/>
            <a:stCxn id="6" idx="2"/>
            <a:endCxn id="8" idx="2"/>
          </p:cNvCxnSpPr>
          <p:nvPr/>
        </p:nvCxnSpPr>
        <p:spPr>
          <a:xfrm rot="16200000" flipH="1">
            <a:off x="6121139" y="2347274"/>
            <a:ext cx="12700" cy="2696066"/>
          </a:xfrm>
          <a:prstGeom prst="bentConnector3">
            <a:avLst>
              <a:gd name="adj1" fmla="val 1800000"/>
            </a:avLst>
          </a:prstGeom>
          <a:ln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36983D5-8922-C3EF-DE33-3E2CE650987A}"/>
              </a:ext>
            </a:extLst>
          </p:cNvPr>
          <p:cNvSpPr txBox="1"/>
          <p:nvPr/>
        </p:nvSpPr>
        <p:spPr>
          <a:xfrm>
            <a:off x="5728904" y="3966633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Sign &amp; Send </a:t>
            </a:r>
          </a:p>
          <a:p>
            <a:r>
              <a:rPr lang="en-US" sz="1200" dirty="0">
                <a:solidFill>
                  <a:srgbClr val="00B0F0"/>
                </a:solidFill>
              </a:rPr>
              <a:t>Transactions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6868BD2-517C-74A5-CD8E-1316C0210536}"/>
              </a:ext>
            </a:extLst>
          </p:cNvPr>
          <p:cNvCxnSpPr>
            <a:cxnSpLocks/>
            <a:stCxn id="8" idx="2"/>
            <a:endCxn id="10" idx="2"/>
          </p:cNvCxnSpPr>
          <p:nvPr/>
        </p:nvCxnSpPr>
        <p:spPr>
          <a:xfrm rot="16200000" flipH="1">
            <a:off x="8833784" y="2330695"/>
            <a:ext cx="12700" cy="2729224"/>
          </a:xfrm>
          <a:prstGeom prst="bentConnector3">
            <a:avLst>
              <a:gd name="adj1" fmla="val 1800000"/>
            </a:avLst>
          </a:prstGeom>
          <a:ln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D69720F-52FE-43F9-AA0C-F7081D7697BC}"/>
              </a:ext>
            </a:extLst>
          </p:cNvPr>
          <p:cNvSpPr txBox="1"/>
          <p:nvPr/>
        </p:nvSpPr>
        <p:spPr>
          <a:xfrm>
            <a:off x="8471285" y="3966633"/>
            <a:ext cx="1073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Store &amp; verify </a:t>
            </a:r>
          </a:p>
          <a:p>
            <a:r>
              <a:rPr lang="en-US" sz="1200" dirty="0">
                <a:solidFill>
                  <a:srgbClr val="00B0F0"/>
                </a:solidFill>
              </a:rPr>
              <a:t>Transactions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3E4AC5B-1ED2-8FB1-8409-CB930F97EF6E}"/>
              </a:ext>
            </a:extLst>
          </p:cNvPr>
          <p:cNvSpPr/>
          <p:nvPr/>
        </p:nvSpPr>
        <p:spPr>
          <a:xfrm>
            <a:off x="685801" y="4478329"/>
            <a:ext cx="10609246" cy="1931270"/>
          </a:xfrm>
          <a:prstGeom prst="roundRect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Graphic 54" descr="Eye">
            <a:extLst>
              <a:ext uri="{FF2B5EF4-FFF2-40B4-BE49-F238E27FC236}">
                <a16:creationId xmlns:a16="http://schemas.microsoft.com/office/drawing/2014/main" id="{28C7F96A-74E4-3BFF-86D4-64AAB2D20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784996"/>
            <a:ext cx="914400" cy="914400"/>
          </a:xfrm>
          <a:prstGeom prst="rect">
            <a:avLst/>
          </a:prstGeom>
        </p:spPr>
      </p:pic>
      <p:pic>
        <p:nvPicPr>
          <p:cNvPr id="57" name="Graphic 56" descr="Lock">
            <a:extLst>
              <a:ext uri="{FF2B5EF4-FFF2-40B4-BE49-F238E27FC236}">
                <a16:creationId xmlns:a16="http://schemas.microsoft.com/office/drawing/2014/main" id="{5F3E216C-EC48-6298-72DD-5BDDBA44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3258" y="4791347"/>
            <a:ext cx="914400" cy="914400"/>
          </a:xfrm>
          <a:prstGeom prst="rect">
            <a:avLst/>
          </a:prstGeom>
        </p:spPr>
      </p:pic>
      <p:sp>
        <p:nvSpPr>
          <p:cNvPr id="58" name="Pentagon 57">
            <a:extLst>
              <a:ext uri="{FF2B5EF4-FFF2-40B4-BE49-F238E27FC236}">
                <a16:creationId xmlns:a16="http://schemas.microsoft.com/office/drawing/2014/main" id="{83659759-74D9-0607-502E-91FC5BE96E74}"/>
              </a:ext>
            </a:extLst>
          </p:cNvPr>
          <p:cNvSpPr/>
          <p:nvPr/>
        </p:nvSpPr>
        <p:spPr>
          <a:xfrm>
            <a:off x="1221949" y="4911332"/>
            <a:ext cx="609600" cy="620788"/>
          </a:xfrm>
          <a:prstGeom prst="pentagon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Graphic 59" descr="Checkmark">
            <a:extLst>
              <a:ext uri="{FF2B5EF4-FFF2-40B4-BE49-F238E27FC236}">
                <a16:creationId xmlns:a16="http://schemas.microsoft.com/office/drawing/2014/main" id="{BF54B1FB-955F-291B-B4A6-2D8D2B444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4774" y="5015460"/>
            <a:ext cx="315288" cy="41253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8B4C62A-74A7-AD3B-6971-F0979863E639}"/>
              </a:ext>
            </a:extLst>
          </p:cNvPr>
          <p:cNvSpPr txBox="1"/>
          <p:nvPr/>
        </p:nvSpPr>
        <p:spPr>
          <a:xfrm>
            <a:off x="1905000" y="4853940"/>
            <a:ext cx="2130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Decentralized</a:t>
            </a:r>
          </a:p>
          <a:p>
            <a:r>
              <a:rPr lang="en-US" dirty="0"/>
              <a:t> No central authority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A2FFB8-3EF6-2DA5-BBBA-444BFD08305A}"/>
              </a:ext>
            </a:extLst>
          </p:cNvPr>
          <p:cNvSpPr txBox="1"/>
          <p:nvPr/>
        </p:nvSpPr>
        <p:spPr>
          <a:xfrm>
            <a:off x="5576261" y="4911332"/>
            <a:ext cx="2439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Transparent</a:t>
            </a:r>
            <a:r>
              <a:rPr lang="en-US" b="1" dirty="0"/>
              <a:t> </a:t>
            </a:r>
          </a:p>
          <a:p>
            <a:r>
              <a:rPr lang="en-US" dirty="0"/>
              <a:t> All actions are on-chain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F84320-B6CC-596B-2660-6A3D57FF5DB0}"/>
              </a:ext>
            </a:extLst>
          </p:cNvPr>
          <p:cNvSpPr txBox="1"/>
          <p:nvPr/>
        </p:nvSpPr>
        <p:spPr>
          <a:xfrm>
            <a:off x="8820443" y="4867870"/>
            <a:ext cx="20417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Secure </a:t>
            </a:r>
          </a:p>
          <a:p>
            <a:r>
              <a:rPr lang="en-US" dirty="0"/>
              <a:t>Funds are locked in </a:t>
            </a:r>
          </a:p>
          <a:p>
            <a:r>
              <a:rPr lang="en-US" dirty="0"/>
              <a:t>Smart contract </a:t>
            </a:r>
          </a:p>
        </p:txBody>
      </p:sp>
    </p:spTree>
    <p:extLst>
      <p:ext uri="{BB962C8B-B14F-4D97-AF65-F5344CB8AC3E}">
        <p14:creationId xmlns:p14="http://schemas.microsoft.com/office/powerpoint/2010/main" val="318050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D90F-F839-36AD-8747-D66AC443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WORKFLOW/SCENARIO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74415D-F510-2C17-2DFB-8C27298741AA}"/>
              </a:ext>
            </a:extLst>
          </p:cNvPr>
          <p:cNvSpPr/>
          <p:nvPr/>
        </p:nvSpPr>
        <p:spPr>
          <a:xfrm>
            <a:off x="1374774" y="1843374"/>
            <a:ext cx="8260236" cy="790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1-CREATE CONTRACT</a:t>
            </a:r>
          </a:p>
          <a:p>
            <a:r>
              <a:rPr lang="en-US" sz="2000" dirty="0">
                <a:solidFill>
                  <a:schemeClr val="tx1"/>
                </a:solidFill>
              </a:rPr>
              <a:t>Client creates a new escrow contract with freelancer address and amount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0E34AD-92EA-206A-1682-95D772628942}"/>
              </a:ext>
            </a:extLst>
          </p:cNvPr>
          <p:cNvSpPr/>
          <p:nvPr/>
        </p:nvSpPr>
        <p:spPr>
          <a:xfrm>
            <a:off x="1374774" y="2791559"/>
            <a:ext cx="8332902" cy="790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rgbClr val="00B050"/>
                </a:solidFill>
              </a:rPr>
              <a:t>2-DEPOSIT FUNDS</a:t>
            </a:r>
          </a:p>
          <a:p>
            <a:r>
              <a:rPr lang="en-US" sz="2000" dirty="0">
                <a:solidFill>
                  <a:schemeClr val="tx1"/>
                </a:solidFill>
              </a:rPr>
              <a:t>Client deposits the agreed amount into  the smart contract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0A65AC-340E-10DA-4AE1-183BD6658EFB}"/>
              </a:ext>
            </a:extLst>
          </p:cNvPr>
          <p:cNvSpPr/>
          <p:nvPr/>
        </p:nvSpPr>
        <p:spPr>
          <a:xfrm>
            <a:off x="1374774" y="3820818"/>
            <a:ext cx="8332902" cy="790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rgbClr val="FFC000"/>
                </a:solidFill>
              </a:rPr>
              <a:t>3-SUBMIT WORK</a:t>
            </a:r>
          </a:p>
          <a:p>
            <a:r>
              <a:rPr lang="en-US" sz="2000" dirty="0">
                <a:solidFill>
                  <a:schemeClr val="tx1"/>
                </a:solidFill>
              </a:rPr>
              <a:t>Freelancer submits the work (off-client) and notifies the client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176D7F-B054-3CE1-8F9D-86D62AD6C6A7}"/>
              </a:ext>
            </a:extLst>
          </p:cNvPr>
          <p:cNvSpPr/>
          <p:nvPr/>
        </p:nvSpPr>
        <p:spPr>
          <a:xfrm>
            <a:off x="1374774" y="4902676"/>
            <a:ext cx="8373358" cy="790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4-CONFIRM DELIVERY</a:t>
            </a:r>
          </a:p>
          <a:p>
            <a:r>
              <a:rPr lang="en-US" sz="2000" dirty="0">
                <a:solidFill>
                  <a:schemeClr val="tx1"/>
                </a:solidFill>
              </a:rPr>
              <a:t>Client reviews the work and confirms that it has been delivered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9868A6E-26CE-0D88-E33F-AB2E29507FD3}"/>
              </a:ext>
            </a:extLst>
          </p:cNvPr>
          <p:cNvSpPr/>
          <p:nvPr/>
        </p:nvSpPr>
        <p:spPr>
          <a:xfrm>
            <a:off x="1374774" y="5931935"/>
            <a:ext cx="8373358" cy="790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accent4"/>
                </a:solidFill>
              </a:rPr>
              <a:t>5-RELEASE PAYMENT</a:t>
            </a:r>
          </a:p>
          <a:p>
            <a:r>
              <a:rPr lang="en-US" sz="2000" dirty="0">
                <a:solidFill>
                  <a:schemeClr val="tx1"/>
                </a:solidFill>
              </a:rPr>
              <a:t>Smart contract releases the funds to the freelancer automatically</a:t>
            </a:r>
          </a:p>
        </p:txBody>
      </p:sp>
    </p:spTree>
    <p:extLst>
      <p:ext uri="{BB962C8B-B14F-4D97-AF65-F5344CB8AC3E}">
        <p14:creationId xmlns:p14="http://schemas.microsoft.com/office/powerpoint/2010/main" val="554551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0F926-5AEC-6189-9B52-1B36D5184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 diagram</a:t>
            </a:r>
          </a:p>
        </p:txBody>
      </p:sp>
      <p:pic>
        <p:nvPicPr>
          <p:cNvPr id="7" name="Content Placeholder 6" descr="User">
            <a:extLst>
              <a:ext uri="{FF2B5EF4-FFF2-40B4-BE49-F238E27FC236}">
                <a16:creationId xmlns:a16="http://schemas.microsoft.com/office/drawing/2014/main" id="{BF518066-2861-1235-EB15-67FAC15BA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689" y="2792732"/>
            <a:ext cx="914400" cy="9144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1C1DCD-D04B-07E9-2FB4-C52C5CDE8263}"/>
              </a:ext>
            </a:extLst>
          </p:cNvPr>
          <p:cNvSpPr txBox="1"/>
          <p:nvPr/>
        </p:nvSpPr>
        <p:spPr>
          <a:xfrm>
            <a:off x="1063455" y="3707132"/>
            <a:ext cx="778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Client</a:t>
            </a:r>
            <a:r>
              <a:rPr lang="en-US" dirty="0"/>
              <a:t> </a:t>
            </a:r>
          </a:p>
        </p:txBody>
      </p:sp>
      <p:pic>
        <p:nvPicPr>
          <p:cNvPr id="9" name="Content Placeholder 6" descr="User">
            <a:extLst>
              <a:ext uri="{FF2B5EF4-FFF2-40B4-BE49-F238E27FC236}">
                <a16:creationId xmlns:a16="http://schemas.microsoft.com/office/drawing/2014/main" id="{41D4BCDB-9CEC-2A0E-A4D9-BF4EB4783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8201" y="2792732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4D469D-8588-2DCE-A2DD-40E8E5E13683}"/>
              </a:ext>
            </a:extLst>
          </p:cNvPr>
          <p:cNvSpPr txBox="1"/>
          <p:nvPr/>
        </p:nvSpPr>
        <p:spPr>
          <a:xfrm>
            <a:off x="9540392" y="3693835"/>
            <a:ext cx="1230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Freelancer</a:t>
            </a:r>
            <a:r>
              <a:rPr lang="en-US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17B3BE-45F2-1849-CC2C-A7ADD3396320}"/>
              </a:ext>
            </a:extLst>
          </p:cNvPr>
          <p:cNvSpPr/>
          <p:nvPr/>
        </p:nvSpPr>
        <p:spPr>
          <a:xfrm>
            <a:off x="4232635" y="2158871"/>
            <a:ext cx="2884602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Create contract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1E3820-E568-1F56-5372-4B3E29F07C8D}"/>
              </a:ext>
            </a:extLst>
          </p:cNvPr>
          <p:cNvSpPr/>
          <p:nvPr/>
        </p:nvSpPr>
        <p:spPr>
          <a:xfrm>
            <a:off x="4232635" y="2969617"/>
            <a:ext cx="2884602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Deposit Funds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099DB8-4258-831D-8830-1BCCC6D5D035}"/>
              </a:ext>
            </a:extLst>
          </p:cNvPr>
          <p:cNvSpPr/>
          <p:nvPr/>
        </p:nvSpPr>
        <p:spPr>
          <a:xfrm>
            <a:off x="4232635" y="3780363"/>
            <a:ext cx="2884602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Confirm Delivery </a:t>
            </a:r>
          </a:p>
        </p:txBody>
      </p:sp>
      <p:pic>
        <p:nvPicPr>
          <p:cNvPr id="15" name="Graphic 14" descr="Document">
            <a:extLst>
              <a:ext uri="{FF2B5EF4-FFF2-40B4-BE49-F238E27FC236}">
                <a16:creationId xmlns:a16="http://schemas.microsoft.com/office/drawing/2014/main" id="{DC7C16A5-E124-28E8-59AB-32125B7C12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1600" y="445798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63A45A-627B-D4DF-6512-0A75A4BB8A02}"/>
              </a:ext>
            </a:extLst>
          </p:cNvPr>
          <p:cNvSpPr txBox="1"/>
          <p:nvPr/>
        </p:nvSpPr>
        <p:spPr>
          <a:xfrm>
            <a:off x="4939816" y="5295853"/>
            <a:ext cx="1623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Smart contract </a:t>
            </a:r>
          </a:p>
          <a:p>
            <a:r>
              <a:rPr lang="en-US" dirty="0">
                <a:solidFill>
                  <a:srgbClr val="00B0F0"/>
                </a:solidFill>
              </a:rPr>
              <a:t>  (Escrow)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4C6D1A-DC40-321E-F76C-512CEE8D3126}"/>
              </a:ext>
            </a:extLst>
          </p:cNvPr>
          <p:cNvSpPr/>
          <p:nvPr/>
        </p:nvSpPr>
        <p:spPr>
          <a:xfrm>
            <a:off x="4245335" y="6039458"/>
            <a:ext cx="2884602" cy="5656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 Payment 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379880C-4959-7894-408F-81AD70C4D932}"/>
              </a:ext>
            </a:extLst>
          </p:cNvPr>
          <p:cNvCxnSpPr>
            <a:stCxn id="11" idx="6"/>
            <a:endCxn id="12" idx="6"/>
          </p:cNvCxnSpPr>
          <p:nvPr/>
        </p:nvCxnSpPr>
        <p:spPr>
          <a:xfrm>
            <a:off x="7117237" y="2441675"/>
            <a:ext cx="12700" cy="810746"/>
          </a:xfrm>
          <a:prstGeom prst="bentConnector3">
            <a:avLst>
              <a:gd name="adj1" fmla="val 180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D9161D0-D91D-FE71-1181-A37EF28498A1}"/>
              </a:ext>
            </a:extLst>
          </p:cNvPr>
          <p:cNvCxnSpPr>
            <a:stCxn id="12" idx="6"/>
            <a:endCxn id="13" idx="6"/>
          </p:cNvCxnSpPr>
          <p:nvPr/>
        </p:nvCxnSpPr>
        <p:spPr>
          <a:xfrm>
            <a:off x="7117237" y="3252421"/>
            <a:ext cx="12700" cy="810746"/>
          </a:xfrm>
          <a:prstGeom prst="bentConnector3">
            <a:avLst>
              <a:gd name="adj1" fmla="val 1800000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27CB43-17DF-F1C8-947A-5329E675BF67}"/>
              </a:ext>
            </a:extLst>
          </p:cNvPr>
          <p:cNvCxnSpPr>
            <a:endCxn id="11" idx="2"/>
          </p:cNvCxnSpPr>
          <p:nvPr/>
        </p:nvCxnSpPr>
        <p:spPr>
          <a:xfrm flipV="1">
            <a:off x="1910089" y="2441675"/>
            <a:ext cx="2322546" cy="808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394DAB-2A76-6224-E6A4-2AE8ACDD010A}"/>
              </a:ext>
            </a:extLst>
          </p:cNvPr>
          <p:cNvCxnSpPr>
            <a:endCxn id="12" idx="2"/>
          </p:cNvCxnSpPr>
          <p:nvPr/>
        </p:nvCxnSpPr>
        <p:spPr>
          <a:xfrm>
            <a:off x="1910089" y="3249932"/>
            <a:ext cx="2322546" cy="2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40B729-FF0A-2379-8759-CB38899FB36B}"/>
              </a:ext>
            </a:extLst>
          </p:cNvPr>
          <p:cNvCxnSpPr>
            <a:endCxn id="13" idx="2"/>
          </p:cNvCxnSpPr>
          <p:nvPr/>
        </p:nvCxnSpPr>
        <p:spPr>
          <a:xfrm>
            <a:off x="1910089" y="3249932"/>
            <a:ext cx="2322546" cy="813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74EB6B8-C9CA-4812-BA67-8013C758D760}"/>
              </a:ext>
            </a:extLst>
          </p:cNvPr>
          <p:cNvCxnSpPr>
            <a:stCxn id="8" idx="2"/>
          </p:cNvCxnSpPr>
          <p:nvPr/>
        </p:nvCxnSpPr>
        <p:spPr>
          <a:xfrm rot="16200000" flipH="1">
            <a:off x="2883767" y="2645585"/>
            <a:ext cx="866955" cy="3728711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66C5AB-06B9-D29B-B1D6-AD9D0BD0A8A7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>
            <a:off x="5674936" y="2724479"/>
            <a:ext cx="0" cy="2451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E829804-D2ED-F8F7-D99D-936C43D8AEEC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>
            <a:off x="5674936" y="3535225"/>
            <a:ext cx="0" cy="2451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9D47F9-5F40-C1D4-08F8-DB7973E35B78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5674936" y="4345971"/>
            <a:ext cx="0" cy="1977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1A70C2F-A4F5-F8D9-D217-F45C1510A440}"/>
              </a:ext>
            </a:extLst>
          </p:cNvPr>
          <p:cNvCxnSpPr>
            <a:stCxn id="17" idx="6"/>
            <a:endCxn id="10" idx="2"/>
          </p:cNvCxnSpPr>
          <p:nvPr/>
        </p:nvCxnSpPr>
        <p:spPr>
          <a:xfrm flipV="1">
            <a:off x="7129937" y="4063167"/>
            <a:ext cx="3025464" cy="2259095"/>
          </a:xfrm>
          <a:prstGeom prst="bentConnector2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B280B50-E5CC-5666-8C2D-C7E779B9FAAC}"/>
              </a:ext>
            </a:extLst>
          </p:cNvPr>
          <p:cNvSpPr/>
          <p:nvPr/>
        </p:nvSpPr>
        <p:spPr>
          <a:xfrm>
            <a:off x="8938687" y="1924465"/>
            <a:ext cx="2433425" cy="565608"/>
          </a:xfrm>
          <a:prstGeom prst="ellipse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Submit work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1451C7E-C0E0-FE63-EFFF-27A272E57E16}"/>
              </a:ext>
            </a:extLst>
          </p:cNvPr>
          <p:cNvCxnSpPr>
            <a:endCxn id="44" idx="4"/>
          </p:cNvCxnSpPr>
          <p:nvPr/>
        </p:nvCxnSpPr>
        <p:spPr>
          <a:xfrm flipV="1">
            <a:off x="10155400" y="2490073"/>
            <a:ext cx="0" cy="302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4C183D-8822-E656-1F48-660C7349A986}"/>
              </a:ext>
            </a:extLst>
          </p:cNvPr>
          <p:cNvCxnSpPr/>
          <p:nvPr/>
        </p:nvCxnSpPr>
        <p:spPr>
          <a:xfrm flipH="1">
            <a:off x="6023728" y="3249932"/>
            <a:ext cx="3674473" cy="1665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54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4012-F3E9-A102-0F9B-0D8012DF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 diagram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F81E80-720F-6517-5E2C-B91169200B18}"/>
              </a:ext>
            </a:extLst>
          </p:cNvPr>
          <p:cNvSpPr/>
          <p:nvPr/>
        </p:nvSpPr>
        <p:spPr>
          <a:xfrm>
            <a:off x="682410" y="2133565"/>
            <a:ext cx="1576632" cy="71425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Frontned</a:t>
            </a:r>
            <a:r>
              <a:rPr lang="en-US" dirty="0"/>
              <a:t>)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343824-9F66-BD2D-11F5-AF6BA39BB1C3}"/>
              </a:ext>
            </a:extLst>
          </p:cNvPr>
          <p:cNvSpPr/>
          <p:nvPr/>
        </p:nvSpPr>
        <p:spPr>
          <a:xfrm>
            <a:off x="6405451" y="2064924"/>
            <a:ext cx="1576632" cy="71425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Smart Contact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Escrow.sol</a:t>
            </a:r>
            <a:r>
              <a:rPr lang="en-US" dirty="0"/>
              <a:t>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E601FC-49EF-412B-537D-C1088F22AEF8}"/>
              </a:ext>
            </a:extLst>
          </p:cNvPr>
          <p:cNvSpPr/>
          <p:nvPr/>
        </p:nvSpPr>
        <p:spPr>
          <a:xfrm>
            <a:off x="9240594" y="2102711"/>
            <a:ext cx="1576632" cy="714255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Blockchain</a:t>
            </a:r>
          </a:p>
          <a:p>
            <a:pPr algn="ctr"/>
            <a:r>
              <a:rPr lang="en-US" dirty="0"/>
              <a:t>(polygon)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034541-BACC-C93B-B70D-F67B6BFE2FC6}"/>
              </a:ext>
            </a:extLst>
          </p:cNvPr>
          <p:cNvSpPr/>
          <p:nvPr/>
        </p:nvSpPr>
        <p:spPr>
          <a:xfrm>
            <a:off x="3520944" y="2102711"/>
            <a:ext cx="1576632" cy="71425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5">
              <a:shade val="15000"/>
            </a:schemeClr>
          </a:lnRef>
          <a:fillRef idx="1003">
            <a:schemeClr val="lt2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MetaMask</a:t>
            </a:r>
          </a:p>
          <a:p>
            <a:pPr algn="ctr"/>
            <a:r>
              <a:rPr lang="en-US" dirty="0"/>
              <a:t>(Wallet)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295A1F-3E02-465C-504A-B27BF1CF69DC}"/>
              </a:ext>
            </a:extLst>
          </p:cNvPr>
          <p:cNvCxnSpPr>
            <a:stCxn id="4" idx="2"/>
          </p:cNvCxnSpPr>
          <p:nvPr/>
        </p:nvCxnSpPr>
        <p:spPr>
          <a:xfrm>
            <a:off x="1470726" y="2847820"/>
            <a:ext cx="0" cy="378957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0BD02F-025A-4FE0-2C38-095F96E8CFC6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309260" y="2816966"/>
            <a:ext cx="0" cy="39027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4A1BC-89FF-9183-952F-FB6564A55A6C}"/>
              </a:ext>
            </a:extLst>
          </p:cNvPr>
          <p:cNvCxnSpPr>
            <a:cxnSpLocks/>
          </p:cNvCxnSpPr>
          <p:nvPr/>
        </p:nvCxnSpPr>
        <p:spPr>
          <a:xfrm>
            <a:off x="7169085" y="2856319"/>
            <a:ext cx="0" cy="408180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4D1A99-2087-1453-489A-D1D3AD141F53}"/>
              </a:ext>
            </a:extLst>
          </p:cNvPr>
          <p:cNvCxnSpPr/>
          <p:nvPr/>
        </p:nvCxnSpPr>
        <p:spPr>
          <a:xfrm>
            <a:off x="10028910" y="2856319"/>
            <a:ext cx="0" cy="400168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Action Button: Blank 7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7BC4B44-8744-75D9-F47E-5E8DB9BB6F7A}"/>
              </a:ext>
            </a:extLst>
          </p:cNvPr>
          <p:cNvSpPr/>
          <p:nvPr/>
        </p:nvSpPr>
        <p:spPr>
          <a:xfrm>
            <a:off x="1342094" y="3031689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ction Button: Blank 1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7153FB9-BBFC-D64F-4D87-2FAD0CDC7BE3}"/>
              </a:ext>
            </a:extLst>
          </p:cNvPr>
          <p:cNvSpPr/>
          <p:nvPr/>
        </p:nvSpPr>
        <p:spPr>
          <a:xfrm>
            <a:off x="1356033" y="4204537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ction Button: Blank 1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DA703F2-E202-5A2A-8EF3-F449766D3834}"/>
              </a:ext>
            </a:extLst>
          </p:cNvPr>
          <p:cNvSpPr/>
          <p:nvPr/>
        </p:nvSpPr>
        <p:spPr>
          <a:xfrm>
            <a:off x="1356033" y="5590278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ction Button: Blank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884F20E-047D-E9EA-1C8C-0FE298B33068}"/>
              </a:ext>
            </a:extLst>
          </p:cNvPr>
          <p:cNvSpPr/>
          <p:nvPr/>
        </p:nvSpPr>
        <p:spPr>
          <a:xfrm>
            <a:off x="4184829" y="3054296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ction Button: Blank 2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A2E3990-ADFB-5297-99A9-60B041FA76FB}"/>
              </a:ext>
            </a:extLst>
          </p:cNvPr>
          <p:cNvSpPr/>
          <p:nvPr/>
        </p:nvSpPr>
        <p:spPr>
          <a:xfrm>
            <a:off x="4166983" y="4204537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ction Button: Blank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23D4C77-D28E-2FE5-2EAA-7212663A6DEB}"/>
              </a:ext>
            </a:extLst>
          </p:cNvPr>
          <p:cNvSpPr/>
          <p:nvPr/>
        </p:nvSpPr>
        <p:spPr>
          <a:xfrm>
            <a:off x="4166983" y="5590277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68DAC34-143B-A791-79CF-67D7FDBDEACA}"/>
              </a:ext>
            </a:extLst>
          </p:cNvPr>
          <p:cNvCxnSpPr>
            <a:cxnSpLocks/>
            <a:stCxn id="71" idx="0"/>
            <a:endCxn id="20" idx="2"/>
          </p:cNvCxnSpPr>
          <p:nvPr/>
        </p:nvCxnSpPr>
        <p:spPr>
          <a:xfrm>
            <a:off x="1568024" y="3230345"/>
            <a:ext cx="2616805" cy="22607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Action Button: Blank 2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6B1B670-0CF6-B82D-E787-2EB05E0BE0FA}"/>
              </a:ext>
            </a:extLst>
          </p:cNvPr>
          <p:cNvSpPr/>
          <p:nvPr/>
        </p:nvSpPr>
        <p:spPr>
          <a:xfrm>
            <a:off x="7074423" y="3031689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ction Button: Blank 3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BD08F8-3408-DEE5-5EF5-0713C1A0CE98}"/>
              </a:ext>
            </a:extLst>
          </p:cNvPr>
          <p:cNvSpPr/>
          <p:nvPr/>
        </p:nvSpPr>
        <p:spPr>
          <a:xfrm>
            <a:off x="7061744" y="4204536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ction Button: Blank 3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3576F26-778C-8252-D3ED-538F441500B6}"/>
              </a:ext>
            </a:extLst>
          </p:cNvPr>
          <p:cNvSpPr/>
          <p:nvPr/>
        </p:nvSpPr>
        <p:spPr>
          <a:xfrm>
            <a:off x="7065341" y="5590276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ction Button: Blank 3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858DFF9-CD4F-2110-A6A8-C3222898344A}"/>
              </a:ext>
            </a:extLst>
          </p:cNvPr>
          <p:cNvSpPr/>
          <p:nvPr/>
        </p:nvSpPr>
        <p:spPr>
          <a:xfrm>
            <a:off x="7061744" y="6304531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DB10651-B67E-BAC4-E280-8C82DCB592D4}"/>
              </a:ext>
            </a:extLst>
          </p:cNvPr>
          <p:cNvCxnSpPr>
            <a:cxnSpLocks/>
          </p:cNvCxnSpPr>
          <p:nvPr/>
        </p:nvCxnSpPr>
        <p:spPr>
          <a:xfrm>
            <a:off x="4410759" y="3252951"/>
            <a:ext cx="2628126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Action Button: Blank 4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7D8B23D-3725-8907-9078-FDD2EE83B2B5}"/>
              </a:ext>
            </a:extLst>
          </p:cNvPr>
          <p:cNvSpPr/>
          <p:nvPr/>
        </p:nvSpPr>
        <p:spPr>
          <a:xfrm>
            <a:off x="9934248" y="3031689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ction Button: Blank 4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477308D-5988-684D-D898-7A62AD4AED8C}"/>
              </a:ext>
            </a:extLst>
          </p:cNvPr>
          <p:cNvSpPr/>
          <p:nvPr/>
        </p:nvSpPr>
        <p:spPr>
          <a:xfrm>
            <a:off x="9915945" y="4296642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ction Button: Blank 4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776A21D-D6BF-4F9C-AC0B-2AA5DAE8B01B}"/>
              </a:ext>
            </a:extLst>
          </p:cNvPr>
          <p:cNvSpPr/>
          <p:nvPr/>
        </p:nvSpPr>
        <p:spPr>
          <a:xfrm>
            <a:off x="9915945" y="5659775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ction Button: Blank 4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87AF161-1927-A943-3395-F2604EF06564}"/>
              </a:ext>
            </a:extLst>
          </p:cNvPr>
          <p:cNvSpPr/>
          <p:nvPr/>
        </p:nvSpPr>
        <p:spPr>
          <a:xfrm>
            <a:off x="9915945" y="6349231"/>
            <a:ext cx="225930" cy="397311"/>
          </a:xfrm>
          <a:prstGeom prst="actionButtonBlank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770D02E-C993-E9B9-7493-B76CC4DD877E}"/>
              </a:ext>
            </a:extLst>
          </p:cNvPr>
          <p:cNvCxnSpPr>
            <a:cxnSpLocks/>
          </p:cNvCxnSpPr>
          <p:nvPr/>
        </p:nvCxnSpPr>
        <p:spPr>
          <a:xfrm>
            <a:off x="7287674" y="3402994"/>
            <a:ext cx="2628126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70A5CE5-F602-DF68-3664-1CCED463B3CE}"/>
              </a:ext>
            </a:extLst>
          </p:cNvPr>
          <p:cNvCxnSpPr>
            <a:cxnSpLocks/>
          </p:cNvCxnSpPr>
          <p:nvPr/>
        </p:nvCxnSpPr>
        <p:spPr>
          <a:xfrm>
            <a:off x="1568024" y="4431584"/>
            <a:ext cx="2628126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1C1854A-31D9-45FE-192A-B5623B18DC12}"/>
              </a:ext>
            </a:extLst>
          </p:cNvPr>
          <p:cNvCxnSpPr>
            <a:cxnSpLocks/>
          </p:cNvCxnSpPr>
          <p:nvPr/>
        </p:nvCxnSpPr>
        <p:spPr>
          <a:xfrm>
            <a:off x="4410759" y="4495297"/>
            <a:ext cx="2628126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6A2DFBE-5CD8-3EED-6474-A9AD0913F890}"/>
              </a:ext>
            </a:extLst>
          </p:cNvPr>
          <p:cNvCxnSpPr>
            <a:cxnSpLocks/>
          </p:cNvCxnSpPr>
          <p:nvPr/>
        </p:nvCxnSpPr>
        <p:spPr>
          <a:xfrm>
            <a:off x="7300353" y="4585268"/>
            <a:ext cx="2628126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16A1021-EB8F-1468-51CD-B19613DD942E}"/>
              </a:ext>
            </a:extLst>
          </p:cNvPr>
          <p:cNvCxnSpPr>
            <a:cxnSpLocks/>
          </p:cNvCxnSpPr>
          <p:nvPr/>
        </p:nvCxnSpPr>
        <p:spPr>
          <a:xfrm>
            <a:off x="1568024" y="5659775"/>
            <a:ext cx="2628126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62C2756-442A-90D8-C281-E5103CA69702}"/>
              </a:ext>
            </a:extLst>
          </p:cNvPr>
          <p:cNvCxnSpPr>
            <a:cxnSpLocks/>
          </p:cNvCxnSpPr>
          <p:nvPr/>
        </p:nvCxnSpPr>
        <p:spPr>
          <a:xfrm>
            <a:off x="4413493" y="5832424"/>
            <a:ext cx="2628126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59D0903-3995-827A-E696-0654CCCD5E48}"/>
              </a:ext>
            </a:extLst>
          </p:cNvPr>
          <p:cNvCxnSpPr>
            <a:cxnSpLocks/>
          </p:cNvCxnSpPr>
          <p:nvPr/>
        </p:nvCxnSpPr>
        <p:spPr>
          <a:xfrm>
            <a:off x="7287674" y="5858430"/>
            <a:ext cx="2628126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C319320-0D0B-62DA-B5A1-693A4D26A5BA}"/>
              </a:ext>
            </a:extLst>
          </p:cNvPr>
          <p:cNvCxnSpPr>
            <a:cxnSpLocks/>
          </p:cNvCxnSpPr>
          <p:nvPr/>
        </p:nvCxnSpPr>
        <p:spPr>
          <a:xfrm>
            <a:off x="7300353" y="6503186"/>
            <a:ext cx="2628126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AA40D8E-D585-7956-C998-5889195B2FE7}"/>
              </a:ext>
            </a:extLst>
          </p:cNvPr>
          <p:cNvCxnSpPr/>
          <p:nvPr/>
        </p:nvCxnSpPr>
        <p:spPr>
          <a:xfrm flipH="1">
            <a:off x="1455059" y="5081047"/>
            <a:ext cx="5732329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3825CA6-6C24-F6DD-6115-7C5B68D248BB}"/>
              </a:ext>
            </a:extLst>
          </p:cNvPr>
          <p:cNvSpPr txBox="1"/>
          <p:nvPr/>
        </p:nvSpPr>
        <p:spPr>
          <a:xfrm>
            <a:off x="2021617" y="2871772"/>
            <a:ext cx="2116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1- Create Contract()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0EEA59B-E1CD-FDA1-D296-7C62D4AF5A27}"/>
              </a:ext>
            </a:extLst>
          </p:cNvPr>
          <p:cNvSpPr txBox="1"/>
          <p:nvPr/>
        </p:nvSpPr>
        <p:spPr>
          <a:xfrm>
            <a:off x="4952400" y="2856319"/>
            <a:ext cx="1414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2-createEscrow()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200BCE1-DE53-2386-2545-8EB0E15D0154}"/>
              </a:ext>
            </a:extLst>
          </p:cNvPr>
          <p:cNvSpPr txBox="1"/>
          <p:nvPr/>
        </p:nvSpPr>
        <p:spPr>
          <a:xfrm>
            <a:off x="7638686" y="2982740"/>
            <a:ext cx="18875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3-transaction Recorded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F0C37CA-149C-E36D-F224-56E6DEF78012}"/>
              </a:ext>
            </a:extLst>
          </p:cNvPr>
          <p:cNvSpPr txBox="1"/>
          <p:nvPr/>
        </p:nvSpPr>
        <p:spPr>
          <a:xfrm>
            <a:off x="2209027" y="4034954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4-Deposit Funds()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790F016-51C8-A759-638E-8B21CAD6CE77}"/>
              </a:ext>
            </a:extLst>
          </p:cNvPr>
          <p:cNvSpPr txBox="1"/>
          <p:nvPr/>
        </p:nvSpPr>
        <p:spPr>
          <a:xfrm>
            <a:off x="5130299" y="4166444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5-deposit()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80DFA98-4A9C-B8D4-80FB-88FA46027438}"/>
              </a:ext>
            </a:extLst>
          </p:cNvPr>
          <p:cNvSpPr txBox="1"/>
          <p:nvPr/>
        </p:nvSpPr>
        <p:spPr>
          <a:xfrm>
            <a:off x="7671742" y="4123212"/>
            <a:ext cx="19005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6-Transcation Recorded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D81A413-6E17-EAE2-60B7-727B4AB2F6E9}"/>
              </a:ext>
            </a:extLst>
          </p:cNvPr>
          <p:cNvSpPr txBox="1"/>
          <p:nvPr/>
        </p:nvSpPr>
        <p:spPr>
          <a:xfrm>
            <a:off x="4824352" y="4666720"/>
            <a:ext cx="2010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7-Submit work(off-chain)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838FB66-268D-FB71-224A-A64421CE07E5}"/>
              </a:ext>
            </a:extLst>
          </p:cNvPr>
          <p:cNvSpPr txBox="1"/>
          <p:nvPr/>
        </p:nvSpPr>
        <p:spPr>
          <a:xfrm>
            <a:off x="2085761" y="5250388"/>
            <a:ext cx="1581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8-Confirm Deliver()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D2F23A4-4E9E-AE44-9B00-53637E3EB6CB}"/>
              </a:ext>
            </a:extLst>
          </p:cNvPr>
          <p:cNvSpPr txBox="1"/>
          <p:nvPr/>
        </p:nvSpPr>
        <p:spPr>
          <a:xfrm>
            <a:off x="4919522" y="5375347"/>
            <a:ext cx="1663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9-Confirm Delivery()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5BC1ABF-F103-EABD-6750-F55A2FFBD529}"/>
              </a:ext>
            </a:extLst>
          </p:cNvPr>
          <p:cNvSpPr txBox="1"/>
          <p:nvPr/>
        </p:nvSpPr>
        <p:spPr>
          <a:xfrm>
            <a:off x="7657496" y="5444681"/>
            <a:ext cx="1995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10-Transaction Recorded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9960906-F4BA-0123-1FE1-2844E0543816}"/>
              </a:ext>
            </a:extLst>
          </p:cNvPr>
          <p:cNvCxnSpPr>
            <a:cxnSpLocks/>
          </p:cNvCxnSpPr>
          <p:nvPr/>
        </p:nvCxnSpPr>
        <p:spPr>
          <a:xfrm>
            <a:off x="4321223" y="6349231"/>
            <a:ext cx="2699816" cy="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0A705578-B4AC-8F6E-4A61-C25293EB7927}"/>
              </a:ext>
            </a:extLst>
          </p:cNvPr>
          <p:cNvSpPr txBox="1"/>
          <p:nvPr/>
        </p:nvSpPr>
        <p:spPr>
          <a:xfrm>
            <a:off x="4884000" y="5954872"/>
            <a:ext cx="16995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11-releasePayment()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DB9C804-DF89-5546-9E8F-4D64916D8A25}"/>
              </a:ext>
            </a:extLst>
          </p:cNvPr>
          <p:cNvSpPr txBox="1"/>
          <p:nvPr/>
        </p:nvSpPr>
        <p:spPr>
          <a:xfrm>
            <a:off x="7762138" y="6073939"/>
            <a:ext cx="1759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12-Payment Released</a:t>
            </a:r>
          </a:p>
        </p:txBody>
      </p:sp>
    </p:spTree>
    <p:extLst>
      <p:ext uri="{BB962C8B-B14F-4D97-AF65-F5344CB8AC3E}">
        <p14:creationId xmlns:p14="http://schemas.microsoft.com/office/powerpoint/2010/main" val="164977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AC54-7532-FDC0-3205-83D653DA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contract  states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544692-9B16-C693-9574-2B0BEB732899}"/>
              </a:ext>
            </a:extLst>
          </p:cNvPr>
          <p:cNvSpPr/>
          <p:nvPr/>
        </p:nvSpPr>
        <p:spPr>
          <a:xfrm>
            <a:off x="685801" y="2142067"/>
            <a:ext cx="1953704" cy="11667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DRAFT</a:t>
            </a:r>
          </a:p>
          <a:p>
            <a:r>
              <a:rPr lang="en-US" b="1" dirty="0"/>
              <a:t>Contract created</a:t>
            </a:r>
          </a:p>
          <a:p>
            <a:r>
              <a:rPr lang="en-US" b="1" dirty="0"/>
              <a:t>But not funded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C26473-4DF7-77CC-A8DE-B91C93E49D8E}"/>
              </a:ext>
            </a:extLst>
          </p:cNvPr>
          <p:cNvSpPr/>
          <p:nvPr/>
        </p:nvSpPr>
        <p:spPr>
          <a:xfrm>
            <a:off x="3422745" y="2142067"/>
            <a:ext cx="1953705" cy="12133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FUNDED</a:t>
            </a:r>
          </a:p>
          <a:p>
            <a:r>
              <a:rPr lang="en-US" dirty="0"/>
              <a:t>Funds deposited</a:t>
            </a:r>
          </a:p>
          <a:p>
            <a:r>
              <a:rPr lang="en-US" dirty="0"/>
              <a:t>And locked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8BEFE5-7841-0C99-EF0C-1D8EB17F9EA5}"/>
              </a:ext>
            </a:extLst>
          </p:cNvPr>
          <p:cNvSpPr/>
          <p:nvPr/>
        </p:nvSpPr>
        <p:spPr>
          <a:xfrm>
            <a:off x="6096000" y="2118781"/>
            <a:ext cx="2000838" cy="12133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SUBMITTED</a:t>
            </a:r>
          </a:p>
          <a:p>
            <a:r>
              <a:rPr lang="en-US" dirty="0">
                <a:solidFill>
                  <a:schemeClr val="tx1"/>
                </a:solidFill>
              </a:rPr>
              <a:t>Work submitted         by freelancer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7B6E9C-8F51-049C-053C-BF1B8A42C7D8}"/>
              </a:ext>
            </a:extLst>
          </p:cNvPr>
          <p:cNvSpPr/>
          <p:nvPr/>
        </p:nvSpPr>
        <p:spPr>
          <a:xfrm>
            <a:off x="8816388" y="2089152"/>
            <a:ext cx="2000838" cy="12869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COMPLETED</a:t>
            </a:r>
          </a:p>
          <a:p>
            <a:pPr algn="ctr"/>
            <a:r>
              <a:rPr lang="en-US" dirty="0"/>
              <a:t>Payment released</a:t>
            </a:r>
          </a:p>
          <a:p>
            <a:pPr algn="ctr"/>
            <a:r>
              <a:rPr lang="en-US" dirty="0"/>
              <a:t>To freelancer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5D130A-D962-BEA7-9C3C-1F359132C7BA}"/>
              </a:ext>
            </a:extLst>
          </p:cNvPr>
          <p:cNvSpPr/>
          <p:nvPr/>
        </p:nvSpPr>
        <p:spPr>
          <a:xfrm>
            <a:off x="685801" y="3780148"/>
            <a:ext cx="7411037" cy="20872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KEY BENEFITS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Decentralized</a:t>
            </a:r>
            <a:r>
              <a:rPr lang="en-US" sz="2000" dirty="0">
                <a:solidFill>
                  <a:schemeClr val="tx1"/>
                </a:solidFill>
              </a:rPr>
              <a:t> – No intermediary required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Secure</a:t>
            </a:r>
            <a:r>
              <a:rPr lang="en-US" sz="2000" dirty="0">
                <a:solidFill>
                  <a:schemeClr val="tx1"/>
                </a:solidFill>
              </a:rPr>
              <a:t> – Funds are locked in smart contract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Transparent</a:t>
            </a:r>
            <a:r>
              <a:rPr lang="en-US" sz="2000" dirty="0">
                <a:solidFill>
                  <a:schemeClr val="tx1"/>
                </a:solidFill>
              </a:rPr>
              <a:t> – All transactions are recorded on-chain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>
                <a:solidFill>
                  <a:schemeClr val="accent2">
                    <a:lumMod val="75000"/>
                  </a:schemeClr>
                </a:solidFill>
              </a:rPr>
              <a:t>Reliable</a:t>
            </a:r>
            <a:r>
              <a:rPr lang="en-US" sz="2000">
                <a:solidFill>
                  <a:srgbClr val="002060"/>
                </a:solidFill>
              </a:rPr>
              <a:t>e</a:t>
            </a:r>
            <a:r>
              <a:rPr lang="en-US" sz="2000" dirty="0">
                <a:solidFill>
                  <a:schemeClr val="tx1"/>
                </a:solidFill>
              </a:rPr>
              <a:t> – Automated and tamper –proof process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Efficient </a:t>
            </a:r>
            <a:r>
              <a:rPr lang="en-US" sz="2000" dirty="0">
                <a:solidFill>
                  <a:schemeClr val="tx1"/>
                </a:solidFill>
              </a:rPr>
              <a:t>– lower cost and faster settlement  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5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6077B8-EBB2-9A1D-6E93-B93862B31643}"/>
              </a:ext>
            </a:extLst>
          </p:cNvPr>
          <p:cNvSpPr txBox="1"/>
          <p:nvPr/>
        </p:nvSpPr>
        <p:spPr>
          <a:xfrm>
            <a:off x="3007150" y="2875175"/>
            <a:ext cx="54555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6556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306</TotalTime>
  <Words>329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Celestial</vt:lpstr>
      <vt:lpstr>Blockchain-Based Freelance Escrow System</vt:lpstr>
      <vt:lpstr>ACTORS</vt:lpstr>
      <vt:lpstr>SYSTEM ARCHITECTURE</vt:lpstr>
      <vt:lpstr>WORKFLOW/SCENARIO</vt:lpstr>
      <vt:lpstr>Use case diagram</vt:lpstr>
      <vt:lpstr>Sequence diagram </vt:lpstr>
      <vt:lpstr>Smart contract  states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Horia Koura</dc:creator>
  <cp:lastModifiedBy>Horia Koura</cp:lastModifiedBy>
  <cp:revision>3</cp:revision>
  <dcterms:created xsi:type="dcterms:W3CDTF">2026-05-09T00:08:28Z</dcterms:created>
  <dcterms:modified xsi:type="dcterms:W3CDTF">2026-05-10T16:48:44Z</dcterms:modified>
</cp:coreProperties>
</file>